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0" r:id="rId4"/>
    <p:sldId id="257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A833-B0F4-178D-1280-CC5360932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34385-ECA4-316A-62A0-0E9A5A2EF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8D10F-4252-5DEC-7061-060528C0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5FCE-0E2A-7602-E7C6-39F8F041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1860-BC81-CFFB-B353-366B7855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3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1F92-B061-0E86-FE1B-6C2D8C36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68AF-0DAC-01F1-6700-72A6DB669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8774-65E2-AE73-98C0-E279382A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AA44-2921-ED22-28E7-0943DE04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057BD-8352-EBE0-6C2E-91DC00D1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5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E47D-E3D8-F00F-806A-B95C36533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7E6ED-2E22-8A4E-F132-86945FEE6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3D65-30B5-ECB0-8177-B62BF563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19104-4DC0-28F7-53EC-5A1B669B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41C92-0ACD-4CBD-088F-79B6245F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F21A-00EE-FB5A-3327-0B90C5A5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BF31-00D3-5C23-FA3C-54BAAF13D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17CD4-719A-0698-1DB2-15740883B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BE68F-30EE-889C-393C-D3A9EE1E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9D680-2287-E455-37DF-57A5B041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70DAD-05A9-6A3B-940B-0108E7AE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9767-DFDF-4A2D-6874-980B604E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0BCC9-51BC-F337-B552-8A492C3A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D4DEF-E1A5-F6B8-4EB9-5BDF155DE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51C9F-1F0F-4E23-240C-72AD5F9AF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D4FC4-3C66-FD59-F9BB-316890C9E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F1F72-BDAE-D963-2F6A-77C8C60E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25CE51-B859-8799-4F85-2D795FE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E4DAC-A59C-9B98-3063-B93714B3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9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378F-127D-9C67-05FC-5461D5CE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4E9C8-69F2-8AD6-5070-BCC36191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A4355-6FA1-C3EA-C725-CB749DA1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1B9FF-F6B2-920A-074A-4033F0B4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87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EDD1A-5568-6AE0-9BF8-42947A4C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0268F-B7F5-E31D-44E9-2C420EF5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0ED00-A9E5-ACEB-B475-F38BE6F3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1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8C1F-2ADB-483F-103B-8676EA04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F7716-8E56-13AF-2956-F3C88869F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BE85A-8F5B-DBAF-47D7-BD44DD742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3EB1B-997E-54A4-DC83-69EDAE55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F0D2-A182-765E-94D8-7545D4CA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5CEFB-AF6A-6815-3E40-87B77894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7453-707C-77F5-7753-DD4C9BA4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498EF-D847-5F7C-E3A0-BCB767BBBB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208DF-7B08-7EBE-56B6-15423A877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8900B-A3E0-4D72-F7B3-C83382AA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8283F-F687-3F69-2C76-07667AAD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2183C-7EE9-79B1-D73E-8E96CB71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2D56-0823-549B-D487-19D6DF72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EDA9A-7C92-6DEB-018F-4F56629B3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4FE55-EA7E-034E-DE63-DD5A2E55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D7818-6C1B-9DC2-3F9C-A3321DE6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D26C5-2A68-2B40-7B7A-668A9D99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0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7B814-ABAB-1EC0-E2E4-06E29AF3D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69BE2-DC45-0F8F-E935-26C662A94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99485-A18B-A91B-65DC-9D97AD77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5A695-59D2-F2F6-C14A-1BCAABE6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8FCBD-5D28-4FCB-1912-E46DAF79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0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04271-5CEE-3A77-D570-C6C7CF9C0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DF5A9-E009-F972-6D95-338F8979C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2866-DBD7-EE18-7F45-F26CE17E8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3F298-6ED9-4B0F-A6CD-5EB7A7C70B01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A051-4F51-F668-2AE3-B751C744A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44304-F5E5-A2FC-54DB-CB7ECAF7B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97DA7-4910-4839-BD38-EB7AD5F52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4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0907FA-CF43-CE95-8528-102A6E2DA7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52950" y="3991866"/>
            <a:ext cx="30861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52950" y="3991866"/>
            <a:ext cx="3086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06651" y="2342256"/>
            <a:ext cx="7178696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 dirty="0">
                <a:solidFill>
                  <a:srgbClr val="FFFFFF"/>
                </a:solidFill>
                <a:latin typeface="+mj-lt"/>
              </a:rPr>
              <a:t>Mandarin Language Course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2670" y="3172716"/>
            <a:ext cx="18466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chemeClr val="bg2"/>
                </a:solidFill>
                <a:latin typeface="+mj-lt"/>
              </a:rPr>
              <a:t>中文課程計畫</a:t>
            </a:r>
            <a:endParaRPr sz="2400" b="1" i="0" u="none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917F62-8582-9820-2EF5-E87A76808FE7}"/>
              </a:ext>
            </a:extLst>
          </p:cNvPr>
          <p:cNvSpPr txBox="1"/>
          <p:nvPr/>
        </p:nvSpPr>
        <p:spPr>
          <a:xfrm>
            <a:off x="4986212" y="4117427"/>
            <a:ext cx="2455800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TW" altLang="en-US" sz="4200" b="1" dirty="0">
                <a:solidFill>
                  <a:srgbClr val="FFFFFF"/>
                </a:solidFill>
                <a:latin typeface="+mj-lt"/>
                <a:ea typeface="+mj-ea"/>
              </a:rPr>
              <a:t>日月光</a:t>
            </a:r>
            <a:r>
              <a:rPr lang="en-US" sz="4200" b="1" i="0" u="none" dirty="0">
                <a:solidFill>
                  <a:srgbClr val="FFFFFF"/>
                </a:solidFill>
                <a:latin typeface="+mj-lt"/>
                <a:ea typeface="+mj-ea"/>
              </a:rPr>
              <a:t>K22</a:t>
            </a:r>
            <a:endParaRPr sz="4200" b="1" i="0" u="none" dirty="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201DF4-30D8-2D59-A1CA-1D0281B3F1C3}"/>
              </a:ext>
            </a:extLst>
          </p:cNvPr>
          <p:cNvSpPr/>
          <p:nvPr/>
        </p:nvSpPr>
        <p:spPr>
          <a:xfrm>
            <a:off x="1032933" y="2472266"/>
            <a:ext cx="10126133" cy="2311401"/>
          </a:xfrm>
          <a:prstGeom prst="roundRect">
            <a:avLst>
              <a:gd name="adj" fmla="val 558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參加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K22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課程，每週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天，每天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小時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每週共計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小時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建立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Gotouch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群組，並分享學習內容、單字詞彙與相關教材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與主管進行學習進度</a:t>
            </a:r>
            <a:r>
              <a:rPr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面試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zh-TW" altLang="en-US" sz="2000">
                <a:latin typeface="Calibri" panose="020F0502020204030204" pitchFamily="34" charset="0"/>
                <a:cs typeface="Calibri" panose="020F0502020204030204" pitchFamily="34" charset="0"/>
              </a:rPr>
              <a:t>訪談兩個月後 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目標：能夠運用所學主題進行對話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42F4C6-DC70-895A-569C-40D4EB4BD70C}"/>
              </a:ext>
            </a:extLst>
          </p:cNvPr>
          <p:cNvSpPr/>
          <p:nvPr/>
        </p:nvSpPr>
        <p:spPr>
          <a:xfrm>
            <a:off x="1032933" y="1786468"/>
            <a:ext cx="10126133" cy="491066"/>
          </a:xfrm>
          <a:prstGeom prst="roundRect">
            <a:avLst>
              <a:gd name="adj" fmla="val 2032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學習計畫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82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5458-050D-C4F6-A63E-FBE0F31F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89E043-FEBD-7B7D-2D25-897F8411086A}"/>
              </a:ext>
            </a:extLst>
          </p:cNvPr>
          <p:cNvSpPr/>
          <p:nvPr/>
        </p:nvSpPr>
        <p:spPr>
          <a:xfrm>
            <a:off x="160867" y="169335"/>
            <a:ext cx="11870266" cy="491066"/>
          </a:xfrm>
          <a:prstGeom prst="roundRect">
            <a:avLst>
              <a:gd name="adj" fmla="val 8259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中文培訓課程大綱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AF8640-7399-06D6-11D3-EECD8D5AD983}"/>
              </a:ext>
            </a:extLst>
          </p:cNvPr>
          <p:cNvSpPr/>
          <p:nvPr/>
        </p:nvSpPr>
        <p:spPr>
          <a:xfrm>
            <a:off x="160867" y="1786465"/>
            <a:ext cx="5613400" cy="1816101"/>
          </a:xfrm>
          <a:prstGeom prst="roundRect">
            <a:avLst>
              <a:gd name="adj" fmla="val 558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學習基本發音與正確口型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發音對比：練習較難發音的聲母</a:t>
            </a:r>
            <a:r>
              <a:rPr lang="zh-TW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例如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ch,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 與 z, c, s</a:t>
            </a:r>
            <a:r>
              <a:rPr lang="en-US" altLang="zh-TW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四聲聲調練習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D132D7-F4DA-6C50-B120-E6BF77260CA1}"/>
              </a:ext>
            </a:extLst>
          </p:cNvPr>
          <p:cNvSpPr/>
          <p:nvPr/>
        </p:nvSpPr>
        <p:spPr>
          <a:xfrm>
            <a:off x="160867" y="1209886"/>
            <a:ext cx="5613399" cy="576581"/>
          </a:xfrm>
          <a:prstGeom prst="roundRect">
            <a:avLst>
              <a:gd name="adj" fmla="val 55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第一部分：發音與語音基礎拼音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B56A33-3585-595F-02B4-1E97046E09A7}"/>
              </a:ext>
            </a:extLst>
          </p:cNvPr>
          <p:cNvSpPr/>
          <p:nvPr/>
        </p:nvSpPr>
        <p:spPr>
          <a:xfrm>
            <a:off x="6206067" y="1755985"/>
            <a:ext cx="5825065" cy="1846581"/>
          </a:xfrm>
          <a:prstGeom prst="roundRect">
            <a:avLst>
              <a:gd name="adj" fmla="val 558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說明姓名、國籍與背景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同事問候：日常工作打招呼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用餐用語：點餐、調整冰塊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甜度，以及外帶表達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日常寒暄：常見問候語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例如：問候近況或「吃飽了嗎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工作地點：說明工作地點</a:t>
            </a:r>
            <a:r>
              <a:rPr lang="zh-TW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日月光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廠房與站別</a:t>
            </a:r>
            <a:r>
              <a:rPr lang="en-US" altLang="zh-TW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工作內容：簡單說明每日工作項目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7C400B-FF67-A276-99D7-A626529D1843}"/>
              </a:ext>
            </a:extLst>
          </p:cNvPr>
          <p:cNvSpPr/>
          <p:nvPr/>
        </p:nvSpPr>
        <p:spPr>
          <a:xfrm>
            <a:off x="6206068" y="1179405"/>
            <a:ext cx="5825064" cy="576581"/>
          </a:xfrm>
          <a:prstGeom prst="roundRect">
            <a:avLst>
              <a:gd name="adj" fmla="val 55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第二部分：日常生活會話自介紹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BE743D-405F-CE48-3618-0FCCB818215C}"/>
              </a:ext>
            </a:extLst>
          </p:cNvPr>
          <p:cNvSpPr/>
          <p:nvPr/>
        </p:nvSpPr>
        <p:spPr>
          <a:xfrm>
            <a:off x="160864" y="4526280"/>
            <a:ext cx="11870265" cy="2193717"/>
          </a:xfrm>
          <a:prstGeom prst="roundRect">
            <a:avLst>
              <a:gd name="adj" fmla="val 558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工作溝通：與組長、隊長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同事基本簡短對話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機台名稱：學習站別設備名稱與常用術語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工具與零件：認識單調工具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機台與機台零件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無塵室環境：了解無塵室規範、個人防護裝備、安全規範與日常作業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電話接聽與轉接：接聽內部電話，並說明同仁不在位置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在崗位上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ACD33F-4DDB-7B76-FE1E-1339C1242B5D}"/>
              </a:ext>
            </a:extLst>
          </p:cNvPr>
          <p:cNvSpPr/>
          <p:nvPr/>
        </p:nvSpPr>
        <p:spPr>
          <a:xfrm>
            <a:off x="160867" y="3949701"/>
            <a:ext cx="11870263" cy="576581"/>
          </a:xfrm>
          <a:prstGeom prst="roundRect">
            <a:avLst>
              <a:gd name="adj" fmla="val 55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第三部分：廠區實用中文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8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FD75-BA14-3439-D890-9D73FA68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350F9F-F1C3-FED1-5CAC-2F7C0965DD0F}"/>
              </a:ext>
            </a:extLst>
          </p:cNvPr>
          <p:cNvSpPr/>
          <p:nvPr/>
        </p:nvSpPr>
        <p:spPr>
          <a:xfrm>
            <a:off x="160867" y="169335"/>
            <a:ext cx="11870266" cy="491066"/>
          </a:xfrm>
          <a:prstGeom prst="roundRect">
            <a:avLst>
              <a:gd name="adj" fmla="val 2032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華語學習計畫與課程大綱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329736-0697-CFF3-765D-03FDFBB91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73735"/>
              </p:ext>
            </p:extLst>
          </p:nvPr>
        </p:nvGraphicFramePr>
        <p:xfrm>
          <a:off x="160867" y="948267"/>
          <a:ext cx="11870267" cy="5588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37">
                  <a:extLst>
                    <a:ext uri="{9D8B030D-6E8A-4147-A177-3AD203B41FA5}">
                      <a16:colId xmlns:a16="http://schemas.microsoft.com/office/drawing/2014/main" val="3472625953"/>
                    </a:ext>
                  </a:extLst>
                </a:gridCol>
                <a:gridCol w="3743410">
                  <a:extLst>
                    <a:ext uri="{9D8B030D-6E8A-4147-A177-3AD203B41FA5}">
                      <a16:colId xmlns:a16="http://schemas.microsoft.com/office/drawing/2014/main" val="2018519040"/>
                    </a:ext>
                  </a:extLst>
                </a:gridCol>
                <a:gridCol w="3334766">
                  <a:extLst>
                    <a:ext uri="{9D8B030D-6E8A-4147-A177-3AD203B41FA5}">
                      <a16:colId xmlns:a16="http://schemas.microsoft.com/office/drawing/2014/main" val="106450845"/>
                    </a:ext>
                  </a:extLst>
                </a:gridCol>
                <a:gridCol w="4152054">
                  <a:extLst>
                    <a:ext uri="{9D8B030D-6E8A-4147-A177-3AD203B41FA5}">
                      <a16:colId xmlns:a16="http://schemas.microsoft.com/office/drawing/2014/main" val="87214552"/>
                    </a:ext>
                  </a:extLst>
                </a:gridCol>
              </a:tblGrid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Lesson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Topic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課程主題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內容對應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(Content Details)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3454856486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Phonetics &amp; Pronunciation Basics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發音與語音基礎拼音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學習基本發音與正確口型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1741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Initials Comparison &amp; Tones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聲母對比與四聲聲調</a:t>
                      </a: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zh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ch, 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 與 z, c, s 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對比及四聲練習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945970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 Introduction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自我介紹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說明姓名、國籍與背景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368732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Workplace Greetings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同事問候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日常工作打招呼與問候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137806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Daily Greetings &amp; Casual Talk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日常寒暄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常見問候語（問候近況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、「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吃飽了嗎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？」）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28002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Dining &amp; Ordering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用餐用語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點餐、調整冰塊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甜度，以及外帶表達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508977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Workplace Location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工作地點說明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說明工作地點（日月光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廠房與站別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）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1366"/>
                  </a:ext>
                </a:extLst>
              </a:tr>
              <a:tr h="293165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Daily Work Tasks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工作內容說明</a:t>
                      </a: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簡單說明每日工作項目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571309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Workplace Communication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工作溝通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與組長、隊長/同事基本簡短對話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2445477067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Station Equipment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機台名稱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學習站別設備名稱與常用術語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4270772780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Tools &amp; Machine Parts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工具與零件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認識單調工具/機台與機台零件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1196733364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Cleanroom Environment &amp; Rules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無塵室環境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了解無塵室規範與日常作業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2237344483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PPE &amp; Safety Regulations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防護裝備與安全規範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個人防護裝備</a:t>
                      </a: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(PPE) </a:t>
                      </a: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與安全規範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2725050513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Phone Answering &amp; Transfers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電話接聽與轉接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接聽內部電話，說明同仁不在位置/在崗位上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1118738372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Comprehensive Workplace Review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廠區實用中文總複習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廠區用語與工作情境綜合複習</a:t>
                      </a: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3188464698"/>
                  </a:ext>
                </a:extLst>
              </a:tr>
              <a:tr h="336322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Conversation Practice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綜合對話演練</a:t>
                      </a:r>
                    </a:p>
                  </a:txBody>
                  <a:tcPr marL="37620" marR="37620" marT="25080" marB="2508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綜合對話模擬與實務口語評估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7620" marR="37620" marT="25080" marB="25080" anchor="ctr"/>
                </a:tc>
                <a:extLst>
                  <a:ext uri="{0D108BD9-81ED-4DB2-BD59-A6C34878D82A}">
                    <a16:rowId xmlns:a16="http://schemas.microsoft.com/office/drawing/2014/main" val="281203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75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F0CB-A2B4-64BC-D3D4-B6D28BF1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E06D1E-6DC4-7F84-AFB4-B7D93C23379B}"/>
              </a:ext>
            </a:extLst>
          </p:cNvPr>
          <p:cNvSpPr/>
          <p:nvPr/>
        </p:nvSpPr>
        <p:spPr>
          <a:xfrm>
            <a:off x="160867" y="169335"/>
            <a:ext cx="11870266" cy="491066"/>
          </a:xfrm>
          <a:prstGeom prst="roundRect">
            <a:avLst>
              <a:gd name="adj" fmla="val 2032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例如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940027-2E7B-9B39-7993-FA621A103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1262"/>
              </p:ext>
            </p:extLst>
          </p:nvPr>
        </p:nvGraphicFramePr>
        <p:xfrm>
          <a:off x="160868" y="1893147"/>
          <a:ext cx="11870265" cy="287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397">
                  <a:extLst>
                    <a:ext uri="{9D8B030D-6E8A-4147-A177-3AD203B41FA5}">
                      <a16:colId xmlns:a16="http://schemas.microsoft.com/office/drawing/2014/main" val="3787569572"/>
                    </a:ext>
                  </a:extLst>
                </a:gridCol>
                <a:gridCol w="2626299">
                  <a:extLst>
                    <a:ext uri="{9D8B030D-6E8A-4147-A177-3AD203B41FA5}">
                      <a16:colId xmlns:a16="http://schemas.microsoft.com/office/drawing/2014/main" val="3027660124"/>
                    </a:ext>
                  </a:extLst>
                </a:gridCol>
                <a:gridCol w="3585015">
                  <a:extLst>
                    <a:ext uri="{9D8B030D-6E8A-4147-A177-3AD203B41FA5}">
                      <a16:colId xmlns:a16="http://schemas.microsoft.com/office/drawing/2014/main" val="1021833433"/>
                    </a:ext>
                  </a:extLst>
                </a:gridCol>
                <a:gridCol w="4501554">
                  <a:extLst>
                    <a:ext uri="{9D8B030D-6E8A-4147-A177-3AD203B41FA5}">
                      <a16:colId xmlns:a16="http://schemas.microsoft.com/office/drawing/2014/main" val="2849481559"/>
                    </a:ext>
                  </a:extLst>
                </a:gridCol>
              </a:tblGrid>
              <a:tr h="64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編號 (No.)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繁體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英文</a:t>
                      </a:r>
                      <a:r>
                        <a:rPr lang="en-US" sz="2000" u="none" strike="noStrike" dirty="0">
                          <a:effectLst/>
                        </a:rPr>
                        <a:t> (English)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意思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1247969159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電鍍機台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diàn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dù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jī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tái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Plating Machine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2474456699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金屬蝕刻機台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jīn shǔ shí kè jī tái</a:t>
                      </a: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Metal Etcher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2617698323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蝕刻機台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shí kè jī tái</a:t>
                      </a: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Etching Machine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3305012472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車用專機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chē yòng zhuān jī</a:t>
                      </a: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Automotive Dedicated Tool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3106378754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真空幫浦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zhēn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kōng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bāng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pǔ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Vacuum Pump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129921024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冰水機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bīng shuǐ jī</a:t>
                      </a: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Chiller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2991517827"/>
                  </a:ext>
                </a:extLst>
              </a:tr>
              <a:tr h="61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空壓機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kōng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yā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jī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Air Compressor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166" marR="1166" marT="1166" marB="0" anchor="ctr"/>
                </a:tc>
                <a:extLst>
                  <a:ext uri="{0D108BD9-81ED-4DB2-BD59-A6C34878D82A}">
                    <a16:rowId xmlns:a16="http://schemas.microsoft.com/office/drawing/2014/main" val="251704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57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385</Words>
  <Application>Microsoft Office PowerPoint</Application>
  <PresentationFormat>Widescreen</PresentationFormat>
  <Paragraphs>127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Microsoft JhengHei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司安飛</dc:creator>
  <cp:lastModifiedBy>司安飛</cp:lastModifiedBy>
  <cp:revision>8</cp:revision>
  <dcterms:created xsi:type="dcterms:W3CDTF">2026-10-20T11:08:41Z</dcterms:created>
  <dcterms:modified xsi:type="dcterms:W3CDTF">2026-10-20T14:58:46Z</dcterms:modified>
</cp:coreProperties>
</file>